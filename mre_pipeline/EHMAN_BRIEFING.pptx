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1064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142A4C"/>
                </a:solidFill>
              </a:rPr>
              <a:t>MRE Stiffness Reconstruction</a:t>
            </a:r>
          </a:p>
          <a:p>
            <a:r>
              <a:rPr sz="3600">
                <a:solidFill>
                  <a:srgbClr val="142A4C"/>
                </a:solidFill>
              </a:rPr>
              <a:t>with a Learned Inverse Operator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0"/>
            <a:ext cx="110642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555555"/>
                </a:solidFill>
              </a:rPr>
              <a:t>Phase 0 Briefing</a:t>
            </a:r>
          </a:p>
          <a:p>
            <a:r>
              <a:rPr sz="1800">
                <a:solidFill>
                  <a:srgbClr val="555555"/>
                </a:solidFill>
              </a:rPr>
              <a:t>Nahil Sobh — May 6, 2026</a:t>
            </a:r>
          </a:p>
          <a:p>
            <a:r>
              <a:rPr sz="800">
                <a:solidFill>
                  <a:srgbClr val="555555"/>
                </a:solidFill>
              </a:rPr>
              <a:t/>
            </a:r>
          </a:p>
          <a:p>
            <a:r>
              <a:rPr sz="1800">
                <a:solidFill>
                  <a:srgbClr val="555555"/>
                </a:solidFill>
              </a:rPr>
              <a:t>Meeting with Dr. Richard Ehman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A4C"/>
                </a:solidFill>
              </a:rPr>
              <a:t>What we are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333333"/>
                </a:solidFill>
              </a:rPr>
              <a:t>Whether a trained function approximator can replace direct Helmholtz inversion as the displacement→stiffness step in MRE.</a:t>
            </a:r>
          </a:p>
          <a:p>
            <a:pPr>
              <a:spcBef>
                <a:spcPts val="2000"/>
              </a:spcBef>
            </a:pPr>
            <a:r>
              <a:rPr sz="2200" b="1">
                <a:solidFill>
                  <a:srgbClr val="142A4C"/>
                </a:solidFill>
              </a:rPr>
              <a:t>Goal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</a:rPr>
              <a:t>•  More robust to noise than analytical inversion (MDEV, LFE, direct inversion)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</a:rPr>
              <a:t>•  Less sensitive to boundary effects and partial data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</a:rPr>
              <a:t>•  Same inputs as standard MRE — complex u at one or more frequencies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A4C"/>
                </a:solidFill>
              </a:rPr>
              <a:t>The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555555"/>
                </a:solidFill>
              </a:rPr>
              <a:t>Treat the inverse problem as regression, not as PDE inversion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42A4C"/>
                </a:solidFill>
              </a:rPr>
              <a:t>1.  Forward simulator</a:t>
            </a:r>
            <a:r>
              <a:rPr sz="1800">
                <a:solidFill>
                  <a:srgbClr val="333333"/>
                </a:solidFill>
              </a:rPr>
              <a:t>    2D finite-difference solver for the same shear wave equation used in MRE: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C2402C"/>
                </a:solidFill>
                <a:latin typeface="Courier New"/>
              </a:rPr>
              <a:t>        ∇·(G* ∇u) + ρω²u = 0,    G* = G(1 + iξ),   ξ = 0.05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42A4C"/>
                </a:solidFill>
              </a:rPr>
              <a:t>2.  Synthetic dataset</a:t>
            </a:r>
            <a:r>
              <a:rPr sz="1800">
                <a:solidFill>
                  <a:srgbClr val="333333"/>
                </a:solidFill>
              </a:rPr>
              <a:t>    50,000 random phantoms with known ground-truth G — no segmentation, no inversion of an inversion.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42A4C"/>
                </a:solidFill>
              </a:rPr>
              <a:t>3.  Learn the inverse</a:t>
            </a:r>
            <a:r>
              <a:rPr sz="1800">
                <a:solidFill>
                  <a:srgbClr val="333333"/>
                </a:solidFill>
              </a:rPr>
              <a:t>    Train a function approximator on (u → G) pairs. The network does not know the physics.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42A4C"/>
                </a:solidFill>
              </a:rPr>
              <a:t>4.  Validate</a:t>
            </a:r>
            <a:r>
              <a:rPr sz="1800">
                <a:solidFill>
                  <a:srgbClr val="333333"/>
                </a:solidFill>
              </a:rPr>
              <a:t>    Hold out 5,000 cases the network never sees during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A4C"/>
                </a:solidFill>
              </a:rPr>
              <a:t>Why this is methodologically clean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42A4C"/>
                </a:solidFill>
              </a:rPr>
              <a:t>• Ground-truth G is exact —</a:t>
            </a:r>
            <a:r>
              <a:rPr sz="2000">
                <a:solidFill>
                  <a:srgbClr val="333333"/>
                </a:solidFill>
              </a:rPr>
              <a:t>  we generated it. No segmentation bias, no inverting an inverted measurement.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42A4C"/>
                </a:solidFill>
              </a:rPr>
              <a:t>• Network sees only noisy displacement —</a:t>
            </a:r>
            <a:r>
              <a:rPr sz="2000">
                <a:solidFill>
                  <a:srgbClr val="333333"/>
                </a:solidFill>
              </a:rPr>
              <a:t>  same information available in real MRE.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42A4C"/>
                </a:solidFill>
              </a:rPr>
              <a:t>• Realistic noise —</a:t>
            </a:r>
            <a:r>
              <a:rPr sz="2000">
                <a:solidFill>
                  <a:srgbClr val="333333"/>
                </a:solidFill>
              </a:rPr>
              <a:t>  complex Gaussian at 15–30 dB SNR matches typical acquisition quality.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42A4C"/>
                </a:solidFill>
              </a:rPr>
              <a:t>• Multi-frequency —</a:t>
            </a:r>
            <a:r>
              <a:rPr sz="2000">
                <a:solidFill>
                  <a:srgbClr val="333333"/>
                </a:solidFill>
              </a:rPr>
              <a:t>  60 Hz + 120 Hz per case. Same principle as MDEV.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42A4C"/>
                </a:solidFill>
              </a:rPr>
              <a:t>• Independent validation set —</a:t>
            </a:r>
            <a:r>
              <a:rPr sz="2000">
                <a:solidFill>
                  <a:srgbClr val="333333"/>
                </a:solidFill>
              </a:rPr>
              <a:t>  5,000 cases never seen during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A4C"/>
                </a:solidFill>
              </a:rPr>
              <a:t>Phase 0 dataset — validation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555555"/>
                </a:solidFill>
              </a:rPr>
              <a:t>50,000 paired (displacement field, stiffness map) samples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9144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3657600"/>
              </a:tblGrid>
              <a:tr h="5486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A4C"/>
                          </a:solidFill>
                        </a:rPr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A4C"/>
                          </a:solidFill>
                        </a:rPr>
                        <a:t>Result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</a:rPr>
                        <a:t>Sample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</a:rPr>
                        <a:t>50,000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</a:rPr>
                        <a:t>NaN/Inf in inputs or targets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</a:rPr>
                        <a:t>None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</a:rPr>
                        <a:t>Stiffness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</a:rPr>
                        <a:t>800 – 45,000 Pa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</a:rPr>
                        <a:t>Per-sample G std (diversity)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</a:rPr>
                        <a:t>4,569 Pa  (&gt;&gt; 500 threshold)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</a:rPr>
                        <a:t>Re/Im channel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</a:rPr>
                        <a:t>−0.02  (near zero, as expected)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555555"/>
                </a:solidFill>
              </a:rPr>
              <a:t>Total dataset size: 4.10 GB (float32). Fits entirely in A100 GPU memory.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A4C"/>
                </a:solidFill>
              </a:rPr>
              <a:t>Wave physics — visual sanity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555555"/>
                </a:solidFill>
              </a:rPr>
              <a:t>Five random samples spanning the 50,000-case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2468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42A4C"/>
                </a:solidFill>
              </a:rPr>
              <a:t>Column 1</a:t>
            </a:r>
          </a:p>
          <a:p>
            <a:r>
              <a:rPr sz="1200" b="0">
                <a:solidFill>
                  <a:srgbClr val="333333"/>
                </a:solidFill>
              </a:rPr>
              <a:t>Re(u) at 60 Hz — wave propagating left to right</a:t>
            </a:r>
          </a:p>
          <a:p>
            <a:r>
              <a:rPr sz="600" b="0">
                <a:solidFill>
                  <a:srgbClr val="333333"/>
                </a:solidFill>
              </a:rPr>
              <a:t/>
            </a:r>
          </a:p>
          <a:p>
            <a:r>
              <a:rPr sz="1600" b="1">
                <a:solidFill>
                  <a:srgbClr val="142A4C"/>
                </a:solidFill>
              </a:rPr>
              <a:t>Column 2</a:t>
            </a:r>
          </a:p>
          <a:p>
            <a:r>
              <a:rPr sz="1200" b="0">
                <a:solidFill>
                  <a:srgbClr val="333333"/>
                </a:solidFill>
              </a:rPr>
              <a:t>Re(u) at 120 Hz — roughly half the wavelength</a:t>
            </a:r>
          </a:p>
          <a:p>
            <a:r>
              <a:rPr sz="600" b="0">
                <a:solidFill>
                  <a:srgbClr val="333333"/>
                </a:solidFill>
              </a:rPr>
              <a:t/>
            </a:r>
          </a:p>
          <a:p>
            <a:r>
              <a:rPr sz="1600" b="1">
                <a:solidFill>
                  <a:srgbClr val="142A4C"/>
                </a:solidFill>
              </a:rPr>
              <a:t>Column 3</a:t>
            </a:r>
          </a:p>
          <a:p>
            <a:r>
              <a:rPr sz="1200" b="0">
                <a:solidFill>
                  <a:srgbClr val="333333"/>
                </a:solidFill>
              </a:rPr>
              <a:t>Stiffness map — single elliptical inclusion</a:t>
            </a:r>
          </a:p>
          <a:p>
            <a:r>
              <a:rPr sz="600" b="0">
                <a:solidFill>
                  <a:srgbClr val="333333"/>
                </a:solidFill>
              </a:rPr>
              <a:t/>
            </a:r>
          </a:p>
          <a:p>
            <a:r>
              <a:rPr sz="1200" b="0">
                <a:solidFill>
                  <a:srgbClr val="333333"/>
                </a:solidFill>
              </a:rPr>
              <a:t>Wave scattering visible at the inclusion in both frequency channels.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A4C"/>
                </a:solidFill>
              </a:rPr>
              <a:t>What the network sees — single training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555555"/>
                </a:solidFill>
              </a:rPr>
              <a:t>Four input channels (Re/Im of u at 60 + 120 Hz) → one stiffness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555555"/>
                </a:solidFill>
              </a:rPr>
              <a:t>The four panels on the left are the network input. The rightmost panel is the target — what the network must learn to predict.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A4C"/>
                </a:solidFill>
              </a:rPr>
              <a:t>Phase 0 v3 — fully aligning with the Murphy/ILI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555555"/>
                </a:solidFill>
              </a:rPr>
              <a:t>Single-frequency clinical setup + ILI-style multi-source + ILI stiffness/damping ranges + heterogeneous backgrounds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2A4C"/>
                </a:solidFill>
              </a:rPr>
              <a:t>Why we redesigned Phase 0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142A4C"/>
                </a:solidFill>
              </a:rPr>
              <a:t>•  Clinical single frequency</a:t>
            </a:r>
          </a:p>
          <a:p>
            <a:r>
              <a:rPr sz="1500">
                <a:solidFill>
                  <a:srgbClr val="333333"/>
                </a:solidFill>
              </a:rPr>
              <a:t>    MRE acquisitions in clinic typically use a single drive frequency. v1 used 60 + 120 Hz; v3 is 60 Hz only — same as ILI.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142A4C"/>
                </a:solidFill>
              </a:rPr>
              <a:t>•  Multi-source excitation</a:t>
            </a:r>
          </a:p>
          <a:p>
            <a:r>
              <a:rPr sz="1500">
                <a:solidFill>
                  <a:srgbClr val="333333"/>
                </a:solidFill>
              </a:rPr>
              <a:t>    v3 places 1–10 random source patches on the boundary, matching ILI's 1–10 random force generators.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142A4C"/>
                </a:solidFill>
              </a:rPr>
              <a:t>•  Damping range matched to ILI</a:t>
            </a:r>
          </a:p>
          <a:p>
            <a:r>
              <a:rPr sz="1500">
                <a:solidFill>
                  <a:srgbClr val="333333"/>
                </a:solidFill>
              </a:rPr>
              <a:t>    v3 samples ξ ∈ [0.005, 0.70] — the full ILI range (vs v1's fixed 0.05 and v2's [0.02, 0.20]).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142A4C"/>
                </a:solidFill>
              </a:rPr>
              <a:t>•  Stiffness range matched to ILI</a:t>
            </a:r>
          </a:p>
          <a:p>
            <a:r>
              <a:rPr sz="1500">
                <a:solidFill>
                  <a:srgbClr val="333333"/>
                </a:solidFill>
              </a:rPr>
              <a:t>    v3 stiffness ∈ [0.5, 15] kPa with per-sample max from U(0, 14.5) kPa — exactly ILI's spec (vs v1/v2 which used [0.8, 45] kPa).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142A4C"/>
                </a:solidFill>
              </a:rPr>
              <a:t>•  Heterogeneous backgrounds (the key)</a:t>
            </a:r>
          </a:p>
          <a:p>
            <a:r>
              <a:rPr sz="1500">
                <a:solidFill>
                  <a:srgbClr val="333333"/>
                </a:solidFill>
              </a:rPr>
              <a:t>    v3 generates piecewise-smooth backgrounds from anisotropic Gaussian-smoothed noise, matching ILI's 'piecewise smooth input stiffness maps'. v1/v2 had uniform backgrounds.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142A4C"/>
                </a:solidFill>
              </a:rPr>
              <a:t>•  Direct head-to-head with ILI</a:t>
            </a:r>
          </a:p>
          <a:p>
            <a:r>
              <a:rPr sz="1500">
                <a:solidFill>
                  <a:srgbClr val="333333"/>
                </a:solidFill>
              </a:rPr>
              <a:t>    Same training distribution as Scott/Murphy 2020. Pearson R at slice geometric centre is the directly comparable metric.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A4C"/>
                </a:solidFill>
              </a:rPr>
              <a:t>Phase 0 v2 — headline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555555"/>
                </a:solidFill>
              </a:rPr>
              <a:t>FNO vs Direct Inversion on 5,000 held-out validation samples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6400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1280160"/>
                <a:gridCol w="146304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A4C"/>
                          </a:solidFill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A4C"/>
                          </a:solidFill>
                        </a:rPr>
                        <a:t>FNO 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A4C"/>
                          </a:solidFill>
                        </a:rPr>
                        <a:t>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A4C"/>
                          </a:solidFill>
                        </a:rPr>
                        <a:t>ILI (pub.)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3333"/>
                          </a:solidFill>
                        </a:rPr>
                        <a:t>Mean RL²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C2402C"/>
                          </a:solidFill>
                        </a:rPr>
                        <a:t>0.221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0.462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3333"/>
                          </a:solidFill>
                        </a:rPr>
                        <a:t>Mean SSIM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C2402C"/>
                          </a:solidFill>
                        </a:rPr>
                        <a:t>0.644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0.235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3333"/>
                          </a:solidFill>
                        </a:rPr>
                        <a:t>Pearson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C2402C"/>
                          </a:solidFill>
                        </a:rPr>
                        <a:t>0.840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0.626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</a:rPr>
                        <a:t>0.940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scatter_fno_vs_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572000" cy="2117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023360"/>
            <a:ext cx="6400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C2402C"/>
                </a:solidFill>
              </a:rPr>
              <a:t>FNO beats DI by 0.21 on Pearson R (0.840 vs 0.626), and by ~2× on RL².</a:t>
            </a:r>
          </a:p>
          <a:p>
            <a:r>
              <a:rPr sz="600" b="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DI's R = 0.626 on v3 is now in the same ballpark as ILI's published DI = 0.685, confirming the v3 distribution is comparable.</a:t>
            </a:r>
          </a:p>
          <a:p>
            <a:r>
              <a:rPr sz="600" b="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</a:rPr>
              <a:t>The 2D FNO at R = 0.840 on this 2D test set falls slightly short of ILI's 3D R = 0.940. The full slice-by-slice 3D test (next slide) tells the headline story — there our 2D FNO applied slice-by-slice exceeds ILI.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A4C"/>
                </a:solidFill>
              </a:rPr>
              <a:t>Phase 0 v2 — predictions vs 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555555"/>
                </a:solidFill>
              </a:rPr>
              <a:t>Six random validation samples, multi-source noisy 60 Hz inputs</a:t>
            </a:r>
          </a:p>
        </p:txBody>
      </p:sp>
      <p:pic>
        <p:nvPicPr>
          <p:cNvPr id="4" name="Picture 3" descr="gt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408612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A4C"/>
                </a:solidFill>
              </a:rPr>
              <a:t>Slice-by-slice 3D inversion — vs ILI head-to-head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555555"/>
                </a:solidFill>
              </a:rPr>
              <a:t>Apply the v2 2D FNO to every axial slice of a 3D phantom, stack the predictions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6400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1280160"/>
                <a:gridCol w="1463040"/>
              </a:tblGrid>
              <a:tr h="4937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4C"/>
                          </a:solidFill>
                        </a:rPr>
                        <a:t>Pearson R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4C"/>
                          </a:solidFill>
                        </a:rPr>
                        <a:t>Slice-by-slice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4C"/>
                          </a:solidFill>
                        </a:rPr>
                        <a:t>ILI (pub.)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4C"/>
                          </a:solidFill>
                        </a:rPr>
                        <a:t>DI (pub.)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3333"/>
                          </a:solidFill>
                        </a:rPr>
                        <a:t>Geometric centre (1,280 slices)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2402C"/>
                          </a:solidFill>
                        </a:rPr>
                        <a:t>0.965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0.940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0.685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3333"/>
                          </a:solidFill>
                        </a:rPr>
                        <a:t>Dense voxels (400k voxels)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2402C"/>
                          </a:solidFill>
                        </a:rPr>
                        <a:t>0.952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3333"/>
                          </a:solidFill>
                        </a:rPr>
                        <a:t>Inclusion centroid (per volume)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2402C"/>
                          </a:solidFill>
                        </a:rPr>
                        <a:t>0.882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3333"/>
                          </a:solidFill>
                        </a:rPr>
                        <a:t>Mean RL² per 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2402C"/>
                          </a:solidFill>
                        </a:rPr>
                        <a:t>0.159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slice_by_slic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285562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9768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2402C"/>
                </a:solidFill>
              </a:rPr>
              <a:t>Slice-by-slice 2D FNO BEATS ILI's published 3D Pearson R (0.965 vs 0.940).</a:t>
            </a:r>
          </a:p>
          <a:p>
            <a:r>
              <a:rPr sz="600" b="0">
                <a:solidFill>
                  <a:srgbClr val="333333"/>
                </a:solidFill>
              </a:rPr>
              <a:t/>
            </a:r>
          </a:p>
          <a:p>
            <a:r>
              <a:rPr sz="1200" b="0">
                <a:solidFill>
                  <a:srgbClr val="333333"/>
                </a:solidFill>
              </a:rPr>
              <a:t>Methodology: 20 random 3D ellipsoidal phantoms (64×64×64 voxels). For each axial slice we run the 2D Helmholtz solver with multi-source noisy excitation, then apply the v2 FNO independently. Stack the 64 slice predictions back into a 3D stiffness map.</a:t>
            </a:r>
          </a:p>
          <a:p>
            <a:r>
              <a:rPr sz="400" b="0">
                <a:solidFill>
                  <a:srgbClr val="333333"/>
                </a:solidFill>
              </a:rPr>
              <a:t/>
            </a:r>
          </a:p>
          <a:p>
            <a:r>
              <a:rPr sz="1200" b="0">
                <a:solidFill>
                  <a:srgbClr val="333333"/>
                </a:solidFill>
              </a:rPr>
              <a:t>This is the workflow that maps directly onto clinical MRE volumes — process axial slices independently, no 3D model required.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A4C"/>
                </a:solidFill>
              </a:rPr>
              <a:t>Slice-by-slice 3D inversion — orthogonal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555555"/>
                </a:solidFill>
              </a:rPr>
              <a:t>Single 3D phantom; same FNO applied to every axial slice, stacked</a:t>
            </a:r>
          </a:p>
        </p:txBody>
      </p:sp>
      <p:pic>
        <p:nvPicPr>
          <p:cNvPr id="4" name="Picture 3" descr="slice_by_slic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69846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A4C"/>
                </a:solidFill>
              </a:rPr>
              <a:t>Phase 1 — the sim-to-real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333333"/>
                </a:solidFill>
              </a:rPr>
              <a:t>Once the model is trained, we run it ZERO-SHOT on BioQIC phantom displacement fields — no fine-tuning, no retraining.</a:t>
            </a:r>
          </a:p>
          <a:p>
            <a:pPr>
              <a:spcBef>
                <a:spcPts val="1800"/>
              </a:spcBef>
            </a:pPr>
            <a:r>
              <a:rPr sz="2200" b="1">
                <a:solidFill>
                  <a:srgbClr val="142A4C"/>
                </a:solidFill>
              </a:rPr>
              <a:t>What we measure</a:t>
            </a:r>
          </a:p>
          <a:p>
            <a:r>
              <a:rPr sz="2000">
                <a:solidFill>
                  <a:srgbClr val="333333"/>
                </a:solidFill>
              </a:rPr>
              <a:t>•  Phase 0 validation accuracy (synthetic, in-distribution)</a:t>
            </a:r>
          </a:p>
          <a:p>
            <a:r>
              <a:rPr sz="2000">
                <a:solidFill>
                  <a:srgbClr val="333333"/>
                </a:solidFill>
              </a:rPr>
              <a:t>•  BioQIC accuracy (real phantom, out-of-distribution)</a:t>
            </a:r>
          </a:p>
          <a:p>
            <a:r>
              <a:rPr sz="2000">
                <a:solidFill>
                  <a:srgbClr val="333333"/>
                </a:solidFill>
              </a:rPr>
              <a:t>•  The gap between the two = the sim-to-real gap</a:t>
            </a:r>
          </a:p>
          <a:p>
            <a:pPr>
              <a:spcBef>
                <a:spcPts val="1800"/>
              </a:spcBef>
            </a:pPr>
            <a:r>
              <a:rPr sz="2200" i="1" b="1">
                <a:solidFill>
                  <a:srgbClr val="C2402C"/>
                </a:solidFill>
              </a:rPr>
              <a:t>That gap is the headline result for the methods paper.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A4C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42A4C"/>
                </a:solidFill>
              </a:rPr>
              <a:t>What we need from you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333333"/>
                </a:solidFill>
              </a:rPr>
              <a:t>Raw displacement volumes from the BioQIC phantom acquisitions.</a:t>
            </a:r>
          </a:p>
          <a:p>
            <a:pPr>
              <a:spcBef>
                <a:spcPts val="2000"/>
              </a:spcBef>
            </a:pPr>
            <a:r>
              <a:rPr sz="2200" b="1">
                <a:solidFill>
                  <a:srgbClr val="142A4C"/>
                </a:solidFill>
              </a:rPr>
              <a:t>What we do NOT need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333333"/>
                </a:solidFill>
              </a:rPr>
              <a:t>Stiffness maps from your inversion. We generate our own predictions.</a:t>
            </a:r>
          </a:p>
          <a:p>
            <a:pPr>
              <a:spcBef>
                <a:spcPts val="2400"/>
              </a:spcBef>
            </a:pPr>
            <a:r>
              <a:rPr sz="2000" i="1">
                <a:solidFill>
                  <a:srgbClr val="C2402C"/>
                </a:solidFill>
              </a:rPr>
              <a:t>This is a measurement, not a fitting exercise. The question is how far off are we before any fine-tuning.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A4C"/>
                </a:solidFill>
              </a:rPr>
              <a:t>Anticipated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1">
                <a:solidFill>
                  <a:srgbClr val="142A4C"/>
                </a:solidFill>
              </a:rPr>
              <a:t>Q.  How does it "know" what stiffness is?</a:t>
            </a:r>
          </a:p>
          <a:p>
            <a:r>
              <a:rPr sz="1600">
                <a:solidFill>
                  <a:srgbClr val="333333"/>
                </a:solidFill>
              </a:rPr>
              <a:t>A.  It does not reason about it. It learns the statistical mapping from 50k examples — same idea as a radiologist learning to recognise patterns.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142A4C"/>
                </a:solidFill>
              </a:rPr>
              <a:t>Q.  What if the inclusion is not in the training distribution?</a:t>
            </a:r>
          </a:p>
          <a:p>
            <a:r>
              <a:rPr sz="1600">
                <a:solidFill>
                  <a:srgbClr val="333333"/>
                </a:solidFill>
              </a:rPr>
              <a:t>A.  That is exactly what Phase 1 tests. BioQIC phantom geometry is different by design.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142A4C"/>
                </a:solidFill>
              </a:rPr>
              <a:t>Q.  Why not just use direct inversion?</a:t>
            </a:r>
          </a:p>
          <a:p>
            <a:r>
              <a:rPr sz="1600">
                <a:solidFill>
                  <a:srgbClr val="333333"/>
                </a:solidFill>
              </a:rPr>
              <a:t>A.  Not replacing it — testing whether the learned model is more robust to noise and missing data. Direct inversion remains the baseline.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142A4C"/>
                </a:solidFill>
              </a:rPr>
              <a:t>Q.  What is the failure mode?</a:t>
            </a:r>
          </a:p>
          <a:p>
            <a:r>
              <a:rPr sz="1600">
                <a:solidFill>
                  <a:srgbClr val="333333"/>
                </a:solidFill>
              </a:rPr>
              <a:t>A.  Domain gap. If real MRE has noise structure our simulation does not capture, accuracy drops. That gap is the publishable measurement.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A4C"/>
                </a:solidFill>
              </a:rPr>
              <a:t>Problem setup —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555555"/>
                </a:solidFill>
              </a:rPr>
              <a:t>Domain, boundary conditions, material properties, simulated displacement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A4C"/>
                </a:solidFill>
              </a:rPr>
              <a:t>Appendix A — Forward simulator (reproducibility)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555555"/>
                </a:solidFill>
              </a:rPr>
              <a:t>2D time-harmonic shear wave equation, finite-difference 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2A4C"/>
                </a:solidFill>
              </a:rPr>
              <a:t>Governing equation</a:t>
            </a:r>
          </a:p>
          <a:p>
            <a:r>
              <a:rPr sz="1800">
                <a:solidFill>
                  <a:srgbClr val="C2402C"/>
                </a:solidFill>
                <a:latin typeface="Courier New"/>
              </a:rPr>
              <a:t>        ∇·(G* ∇u) + ρω²u = 0,    G* = G(1 + iξ)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42A4C"/>
                </a:solidFill>
              </a:rPr>
              <a:t>Physical parameters (SI)</a:t>
            </a:r>
          </a:p>
          <a:p>
            <a:r>
              <a:rPr sz="1500">
                <a:solidFill>
                  <a:srgbClr val="333333"/>
                </a:solidFill>
                <a:latin typeface="Courier New"/>
              </a:rPr>
              <a:t>    ρ  = 1000 kg/m³            (tissue density)</a:t>
            </a:r>
          </a:p>
          <a:p>
            <a:r>
              <a:rPr sz="1500">
                <a:solidFill>
                  <a:srgbClr val="333333"/>
                </a:solidFill>
                <a:latin typeface="Courier New"/>
              </a:rPr>
              <a:t>    dx = 0.002 m                (2 mm voxel)</a:t>
            </a:r>
          </a:p>
          <a:p>
            <a:r>
              <a:rPr sz="1500">
                <a:solidFill>
                  <a:srgbClr val="333333"/>
                </a:solidFill>
                <a:latin typeface="Courier New"/>
              </a:rPr>
              <a:t>    ω  = 2π · f,   f ∈ {60, 120} Hz</a:t>
            </a:r>
          </a:p>
          <a:p>
            <a:r>
              <a:rPr sz="1500">
                <a:solidFill>
                  <a:srgbClr val="333333"/>
                </a:solidFill>
                <a:latin typeface="Courier New"/>
              </a:rPr>
              <a:t>    ξ  = 0.05                   (damping ratio)</a:t>
            </a:r>
          </a:p>
          <a:p>
            <a:r>
              <a:rPr sz="1500">
                <a:solidFill>
                  <a:srgbClr val="333333"/>
                </a:solidFill>
                <a:latin typeface="Courier New"/>
              </a:rPr>
              <a:t>    Grid: 64 × 64 nodes  (physical domain 0.128 m × 0.128 m = 12.8 cm)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42A4C"/>
                </a:solidFill>
              </a:rPr>
              <a:t>Numerical method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•  Second-order finite differences on uniform grid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•  Half-point harmonic averaging at material interfaces: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       G_half = 2 · G_a · G_b / (G_a + G_b)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•  Boundary conditions: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       Left column (j=0):   u = 1 + 0j  (Dirichlet source)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       All other edges:     u = 0       (Dirichlet)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•  Sparse direct solver:  scipy.sparse.linalg.spsolve  (LIL → CSR)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•  Output:  complex (N × N) displacement field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A4C"/>
                </a:solidFill>
              </a:rPr>
              <a:t>Appendix B — Phantom &amp; dataset (reproducibility)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555555"/>
                </a:solidFill>
              </a:rPr>
              <a:t>Random elliptical inclusions, multi-frequency, complex Gaussian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2A4C"/>
                </a:solidFill>
              </a:rPr>
              <a:t>Stiffness map G(x, y)  [Pa]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Stiffness range:  [500, 15000] Pa  (matches ILI [0.5, 15] kPa)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Per-sample max draw from Uniform(0, 14500) Pa.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Background:  smoothed 2D Gaussian noise field (anisotropic kernel, σ ∈ U(1, 4) px),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             scaled to [0, range_max] then clipped to [500, 15000] Pa.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Inclusion (50% probability):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    centre (cy, cx) ~ Uniform([N/4, 3N/4]²)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    semi-axes  a ~ U(4, N/6),  b ~ U(0.6a, a),  rotation θ ~ U(0, π)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    G_inclusion: an independently generated smooth field (same scheme as bg).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42A4C"/>
                </a:solidFill>
              </a:rPr>
              <a:t>Input channels (network input X)  —  Phase 0 v2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X[0] = Re(u)  at 60 Hz                       (single clinical drive freq)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X[1] = Im(u)  at 60 Hz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Excitation: 1–10 random source patches on the boundary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            (each patch = 4–12 contiguous pixels, random complex amplitude)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Damping ξ ~ Uniform(0.005, 0.70)             (matches ILI's full range)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Noise: complex Gaussian, SNR ~ Uniform(15, 30) dB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42A4C"/>
                </a:solidFill>
              </a:rPr>
              <a:t>Dataset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50,000 samples = 100 SLURM array tasks × 500 samples each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RNG seed (per task):  seed = task_id × 1000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Storage: HDF5,  X: float32 (50000, 4, 64, 64),  Y: float32 (50000, 64, 64)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Train / val split: 45,000 / 5,000  (final 10% held out)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A4C"/>
                </a:solidFill>
              </a:rPr>
              <a:t>Appendix C — Training &amp; run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555555"/>
                </a:solidFill>
              </a:rPr>
              <a:t>Fourier Neural Operator, NCSA Delta, single A100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2A4C"/>
                </a:solidFill>
              </a:rPr>
              <a:t>Architecture (FNO2d)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4 Fourier layers,  width = 32,  spectral modes = 12 × 12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Lift: 1×1 conv  2 → 32        Project: 1×1 conv  32 → 128 → 1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Activation: GELU,    InstanceNorm after each spectral block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Total parameters: ~1.19 M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42A4C"/>
                </a:solidFill>
              </a:rPr>
              <a:t>Optimisation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Optimiser: Adam,  lr = 1e-3,  cosine decay → 1e-5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Batch size: 32     Epochs: 100     Grad clip: 1.0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Input X normalised per channel (mean / std from train split)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Target Y normalised in log-space:  y_n = (log G − log_min) / (log_max − log_min)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Loss = relative-L²(pred, Y_n)  +  0.05 · Helmholtz residual loss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42A4C"/>
                </a:solidFill>
              </a:rPr>
              <a:t>Compute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NCSA Delta,  partition = gpuA100x4-interactive,  1× A100 (80 GB)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Wall-clock: ~14 s per epoch, ~25 min total for 100 epochs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Data generation: 100-task SLURM array, partition = cpu,  ~2 min</a:t>
            </a:r>
          </a:p>
          <a:p>
            <a:r>
              <a:rPr sz="1400">
                <a:solidFill>
                  <a:srgbClr val="333333"/>
                </a:solidFill>
                <a:latin typeface="Courier New"/>
              </a:rPr>
              <a:t>    Code: github-style repo  mre_pipeline/  (src/, slurm/, scripts/, tests/)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